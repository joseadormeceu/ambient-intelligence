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9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315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GeoSensing &amp; Community Hub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Colaborativa para Gestão e Promoção do Espaço Urbano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Intelligence — Perfil 1  |  2025/2026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Fonseca  ·  José Moura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ISEC - Instituto Superior de Engenharia de Coimbra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" y="1005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90472"/>
            <a:ext cx="41605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5819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&amp; Contribuições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66544"/>
            <a:ext cx="41605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457200" y="215798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21579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Relacionados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42616"/>
            <a:ext cx="41605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57200" y="273405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27340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18688"/>
            <a:ext cx="41605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457200" y="331012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33101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</a:t>
            </a: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Dados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41605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3886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de Dados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370832"/>
            <a:ext cx="41605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457200" y="446227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44622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— Clustering Espacial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914400"/>
            <a:ext cx="41605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4846320" y="10058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21808" y="1005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Centroides e Routing ORS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490472"/>
            <a:ext cx="41605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9" name="Text 27"/>
          <p:cNvSpPr/>
          <p:nvPr/>
        </p:nvSpPr>
        <p:spPr>
          <a:xfrm>
            <a:off x="4846320" y="158191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21808" y="15819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Isócronas das Paragens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066544"/>
            <a:ext cx="41605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2" name="Text 30"/>
          <p:cNvSpPr/>
          <p:nvPr/>
        </p:nvSpPr>
        <p:spPr>
          <a:xfrm>
            <a:off x="4846320" y="215798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21808" y="21579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GeoSensing &amp; MerginMaps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642616"/>
            <a:ext cx="41605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5" name="Text 33"/>
          <p:cNvSpPr/>
          <p:nvPr/>
        </p:nvSpPr>
        <p:spPr>
          <a:xfrm>
            <a:off x="4846320" y="273405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21808" y="27340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PyQt — Interface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218688"/>
            <a:ext cx="41605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8" name="Text 36"/>
          <p:cNvSpPr/>
          <p:nvPr/>
        </p:nvSpPr>
        <p:spPr>
          <a:xfrm>
            <a:off x="4846320" y="331012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21808" y="33101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dos Dados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794760"/>
            <a:ext cx="41605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1" name="Text 39"/>
          <p:cNvSpPr/>
          <p:nvPr/>
        </p:nvSpPr>
        <p:spPr>
          <a:xfrm>
            <a:off x="4846320" y="388620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21808" y="3886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Disponibilização &amp; Privacidade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4370832"/>
            <a:ext cx="41605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4" name="Text 42"/>
          <p:cNvSpPr/>
          <p:nvPr/>
        </p:nvSpPr>
        <p:spPr>
          <a:xfrm>
            <a:off x="4846320" y="446227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21808" y="44622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 &amp; Trabalho Futuro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Fonseca · José Moura  |  ISEC – Ambient Intelligence 2025/2026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61872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uma plataforma colaborativa que permita à comunidade do ISEC reportar problemas de infraestrutura pública — iluminação deficiente, pavimento danificado, passeios inexistentes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ferramentas para registar eventos académicos e culturais de forma georreferenciada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sistema para levantar pontos de interesse úteis ao estudante de forma participativa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suporta três vertentes: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382219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— identificação de perigos e problemas de infraestrutura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— registo de eventos culturais, académicos e associativos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 — levantamento de pontos estratégicos de apoio ao estudante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0" y="914400"/>
            <a:ext cx="3108960" cy="3840480"/>
          </a:xfrm>
          <a:prstGeom prst="roundRect">
            <a:avLst>
              <a:gd name="adj" fmla="val 2059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5852160" y="1078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isto importa?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141732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cidades são ambientes ricos em dados mas a maioria dos cidadãos não tem ferramentas para os explorar.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ISEC tem uma comunidade ativa — estudantes, docentes, funcionários — que se desloca diariamente num espaço urbano com problemas reais e eventos não documentados digitalmente.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projeto cria a infraestrutura GIS colaborativa que faltava.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Fonseca · José Moura  |  ISEC – Ambient Intelligence 2025/2026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&amp; Contribuições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92608" cy="292608"/>
          </a:xfrm>
          <a:prstGeom prst="ellipse">
            <a:avLst/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0332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GIS Colaborativo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30759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 sistema GIS com três componentes colaborativos: Reporting, Events e POIs. Scripts Import.py e Analise.py que automatizam importação e toda a análise espacial.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847088"/>
            <a:ext cx="292608" cy="292608"/>
          </a:xfrm>
          <a:prstGeom prst="ellipse">
            <a:avLst/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Espacial Completa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1031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KDE, clustering DBSCAN com haversine, cálculo de centroides, rotas ORS (mais curta vs mais rápida) e isócronas das paragens SMTUC.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642616"/>
            <a:ext cx="292608" cy="292608"/>
          </a:xfrm>
          <a:prstGeom prst="ellipse">
            <a:avLst/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41148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6243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PyQt Integrado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8986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gráfica integrada no QGIS Desktop com parâmetros configuráveis, log em tempo real e execução automática de toda a pipeline.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438144"/>
            <a:ext cx="292608" cy="292608"/>
          </a:xfrm>
          <a:prstGeom prst="ellipse">
            <a:avLst/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411480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4198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Automatização de Dados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69417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automática de shapefiles DGT/Geofabrik e dados OSMnx — separação entre Import (uma vez) e Analise (múltiplas vezes com parâmetros diferentes).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233672"/>
            <a:ext cx="292608" cy="292608"/>
          </a:xfrm>
          <a:prstGeom prst="ellipse">
            <a:avLst/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1148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2153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GeoSensing no Terreno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48970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GPKG editáveis sincronizadas via MerginMaps — recolha de dados no terreno com a app Input no telemóvel, sync bidirecional (Pull/Push).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Fonseca · José Moura  |  ISEC – Ambient Intelligence 2025/2026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Relacionados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Shafiq et al. (2024)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do acesso a transportes na Área Metro Porto — técnicas estatísticas e geográficas combinadas.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89320" y="1051560"/>
            <a:ext cx="2606040" cy="594360"/>
          </a:xfrm>
          <a:prstGeom prst="roundRect">
            <a:avLst>
              <a:gd name="adj" fmla="val 7692"/>
            </a:avLst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6080760" y="11247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Sem roteamento dinâmico nem GeoSensing colaborativo.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(2021)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Isócronas para equidade de acesso a equipamentos em Xiamen — referência direta para os buffers 200m/400m SMTUC.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2011680"/>
            <a:ext cx="2606040" cy="594360"/>
          </a:xfrm>
          <a:prstGeom prst="roundRect">
            <a:avLst>
              <a:gd name="adj" fmla="val 7692"/>
            </a:avLst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6080760" y="2084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Sem recolha colaborativa de dados no terreno.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84124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Kostecki (2024)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2644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rede pgRouting/PostGIS para acessibilidade ciclável em Poznan.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2971800"/>
            <a:ext cx="2606040" cy="594360"/>
          </a:xfrm>
          <a:prstGeom prst="roundRect">
            <a:avLst>
              <a:gd name="adj" fmla="val 7692"/>
            </a:avLst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6080760" y="30449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Sem GeoSensing nem integração QGIS Desktop.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84124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548640" y="3931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Sleszynski et al. (2023)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22452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da isócrona ideal como indicador de eficiência de transportes.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3931920"/>
            <a:ext cx="2606040" cy="594360"/>
          </a:xfrm>
          <a:prstGeom prst="roundRect">
            <a:avLst>
              <a:gd name="adj" fmla="val 7692"/>
            </a:avLst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6080760" y="40050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Puramente teórico, sem implementação GIS.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Fonseca · José Moura  |  ISEC – Ambient Intelligence 2025/2026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unico Plugin PyQt integrado no QGIS — 4 botoes, tudo num so ficheiro Python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2A5C8C"/>
          </a:solidFill>
          <a:ln w="12700">
            <a:solidFill>
              <a:srgbClr val="2A5C8C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987552" y="1408176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987552" y="140817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Dados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65176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DGT pois.shp + roads.shp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305409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OSMnx paragens autocarro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345643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Satellite XYZ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385876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Camadas GeoSensing GPKG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4261104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Edificios (.shp externo)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31720" y="2944368"/>
            <a:ext cx="164592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ysDash"/>
          </a:ln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2496312" y="1298448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3163824" y="1408176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3163824" y="140817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87752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Analise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265176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Filtrar POIs por categoria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06040" y="305409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Buffer 1000m (EPSG:3763)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06040" y="345643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Heatmap KDE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06040" y="385876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DBSCAN + Centroides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06040" y="4261104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Isocronas paragens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07992" y="2944368"/>
            <a:ext cx="164592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ysDash"/>
          </a:ln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4672584" y="1298448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1A7070"/>
          </a:solidFill>
          <a:ln w="12700">
            <a:solidFill>
              <a:srgbClr val="1A707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6" name="Shape 24"/>
          <p:cNvSpPr/>
          <p:nvPr/>
        </p:nvSpPr>
        <p:spPr>
          <a:xfrm>
            <a:off x="5340096" y="1408176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5340096" y="140817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764024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Rota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82312" y="265176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ORS API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82312" y="305409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Carro / A Pe / Bicicleta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82312" y="345643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Mais curta / Mais rapida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82312" y="385876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Destino: manual ou DBSCAN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82312" y="4261104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Geocodificacao Nominatim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84264" y="2944368"/>
            <a:ext cx="164592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ysDash"/>
          </a:ln>
        </p:spPr>
        <p:txBody>
          <a:bodyPr/>
          <a:lstStyle/>
          <a:p>
            <a:endParaRPr lang="pt-PT"/>
          </a:p>
        </p:txBody>
      </p:sp>
      <p:sp>
        <p:nvSpPr>
          <p:cNvPr id="35" name="Shape 33"/>
          <p:cNvSpPr/>
          <p:nvPr/>
        </p:nvSpPr>
        <p:spPr>
          <a:xfrm>
            <a:off x="6848856" y="1298448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6" name="Shape 34"/>
          <p:cNvSpPr/>
          <p:nvPr/>
        </p:nvSpPr>
        <p:spPr>
          <a:xfrm>
            <a:off x="7516368" y="1408176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7" name="Text 35"/>
          <p:cNvSpPr/>
          <p:nvPr/>
        </p:nvSpPr>
        <p:spPr>
          <a:xfrm>
            <a:off x="7516368" y="140817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940296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+ GeoSensing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58584" y="265176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Guardar projeto .qgz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58584" y="305409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Push → MerginMaps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58584" y="345643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Pull → sync do terreno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58584" y="385876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Recarrega camadas GPKG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dados: DGT/Geofabrik (POIs + estradas) + OSMnx (paragens) + Google Satellite (mapa base)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Fonseca · José Moura  |  ISEC – Ambient Intelligence 2025/2026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Botao 1 — Importar Dados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 o botao Importar Dados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66928" y="139903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 os dados de Portugal inteiro e filtra apenas a cidade escolhida — só fica o que interessa para Coimbra, Porto ou Lisboa.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82880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geopandas + shapely bounding box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1945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566928" y="22677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buscar as paragens de autocarro diretamente ao OpenStreetMap em tempo real.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69748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OSMnx features_from_place highway=bus_stop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306324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566928" y="313639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três camadas vazias prontas a receber dados no terreno: Reporting, Events e POIs.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56616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QgsVectorFileWriter → GPKG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93192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566928" y="400507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 opcionalmente um shapefile externo de edificios — util para mostrar os edificios do ISEC no mapa.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443484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Shapefile externo (.shp) → GeoJSON → layer QGIS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06440" y="914400"/>
            <a:ext cx="2971800" cy="1645920"/>
          </a:xfrm>
          <a:prstGeom prst="roundRect">
            <a:avLst>
              <a:gd name="adj" fmla="val 3889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5989320" y="1078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Decisao de design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89320" y="1417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importacao so corre uma vez — ficheiros de Portugal inteiro sao grandes (114 mil edificios).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analise pode correr vezes sem conta sem repetir a importacao.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2670048"/>
            <a:ext cx="2971800" cy="1234440"/>
          </a:xfrm>
          <a:prstGeom prst="roundRect">
            <a:avLst>
              <a:gd name="adj" fmla="val 5185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5989320" y="28346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que resolvemos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89320" y="31729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metodo padrao de filtrar por area do geopandas pode devolver todos os dados sem filtrar nada.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Substituimos por filtro geometrico explicito.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06440" y="4005072"/>
            <a:ext cx="2971800" cy="658368"/>
          </a:xfrm>
          <a:prstGeom prst="roundRect">
            <a:avLst>
              <a:gd name="adj" fmla="val 9722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5989320" y="41696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89320" y="4507992"/>
            <a:ext cx="260604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o .qgz com todas as camadas — botao '4. Guardar Projeto'.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Fonseca · José Moura  |  ISEC – Ambient Intelligence 2025/2026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Botao 2 — Executar Analise (Filtragem e Heatmap)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 dos POIs (dentro do botao Executar Analise)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52120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Filtramos apenas as categorias confiaveis — hospital, escola, farmacia e parque — porque sao infraestruturas permanentes que raramente fecham ou mudam de sitio. Categorias como cafe ou museu tinham demasiados erros nos dados.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2880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4 categorias DGT/OSM confiaveis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139696"/>
            <a:ext cx="52120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566928" y="2212848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Desenhamos um circulo a volta do ISEC e ficamos so com os POIs dentro desse raio. O raio e configuravel no plugin.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670048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Buffer geometrico em EPSG:3763 (metros reais)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0632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Calor (Heatmap)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447288"/>
            <a:ext cx="52120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566928" y="3520440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Criamos um mapa de calor — quanto mais POIs numa zona, mais 'quente' (vermelho) aparece no mapa. O raio de influencia de cada ponto e ajustavel no plugin.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397764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QGIS Kernel Density Estimation + simbologia YlOrRd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06440" y="914400"/>
            <a:ext cx="2971800" cy="1828800"/>
          </a:xfrm>
          <a:prstGeom prst="roundRect">
            <a:avLst>
              <a:gd name="adj" fmla="val 3500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5989320" y="1078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so 4 categorias?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14173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Testamos e confirmamos falsos positivos em cafe, museum e restaurant — o mapa mostrava coisas que nao eram o que pareciam.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Hospitais, escolas, farmacias e parkings sao dados estaveis e bem classificados.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06440" y="2880360"/>
            <a:ext cx="2971800" cy="1783080"/>
          </a:xfrm>
          <a:prstGeom prst="roundRect">
            <a:avLst>
              <a:gd name="adj" fmla="val 3590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5989320" y="30449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EPSG:3763?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338328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fizessemos o circulo em graus, 1000m nao seria o mesmo em Coimbra e em Lisboa — a escala varia com a latitude.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EPSG:3763 e a projecao oficial de Portugal — 1000m sao sempre 1000m reais.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Fonseca · José Moura  |  ISEC – Ambient Intelligence 2025/2026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— Agrupamento Automatico de POIs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 o DBSCAN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5010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agrupa automaticamente os POIs que estao perto uns dos outros — sem precisar de dizer quantos grupos existem. Pontos isolados sao marcados como 'ruido'.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28800"/>
            <a:ext cx="5010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scikit-learn DBSCAN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167128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566928" y="2240280"/>
            <a:ext cx="5010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calcular distancias geograficas corretamente, temos em conta a curvatura da Terra — senao 300m em Coimbra nao seria o mesmo que 300m noutro sitio.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697480"/>
            <a:ext cx="5010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Metrica haversine + coordenadas em radianos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3035808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566928" y="3108960"/>
            <a:ext cx="5010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parametros configurados no plugin: o raio de vizinhanca (distancia maxima entre dois POIs para serem considerados vizinhos) e o minimo de pontos para formar um grupo.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566160"/>
            <a:ext cx="5010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eps (km) e min_samples no HUD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904488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566928" y="3977640"/>
            <a:ext cx="5010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final identificamos os N clusters mais densos e calculamos o ponto central de cada um — esse ponto e o destino automatico da rota.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4434840"/>
            <a:ext cx="5010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Centroide = media das coordenadas do cluster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06440" y="914400"/>
            <a:ext cx="2971800" cy="2148840"/>
          </a:xfrm>
          <a:prstGeom prst="roundRect">
            <a:avLst>
              <a:gd name="adj" fmla="val 2979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5989320" y="1078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DBSCAN e nao K-Means?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89320" y="1417320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obriga a dizer quantos grupos queremos antes de correr — e nao sabemos.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descobre sozinho quantos grupos existem com base na densidade dos pontos.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Tambem identifica pontos isolados como 'ruido' — util para detetar POIs fora do padrao.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3200400"/>
            <a:ext cx="2971800" cy="1463040"/>
          </a:xfrm>
          <a:prstGeom prst="roundRect">
            <a:avLst>
              <a:gd name="adj" fmla="val 4375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5989320" y="3364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 clusters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89320" y="3703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 escolher no plugin quantos clusters queremos ver no mapa — por exemplo os 3 mais densos.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mais denso e automaticamente usado como destino da rota.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Fonseca · José Moura  |  ISEC – Ambient Intelligence 2025/2026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Centroides (Analise) e Calculo de Rotas (Botao Separado)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Centroides dos clusters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53035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agrupar os POIs, calculamos o ponto central de cada grupo — a media das coordenadas de todos os pontos do cluster. Esse ponto fica marcado no mapa e e usado como destino.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0136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Media das coordenadas lat/lon → centroide geografico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Calculo de Rotas — Botao '3. Calcular Rota' (independente da analise)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633472"/>
            <a:ext cx="5303520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566928" y="26974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 e calculada de forma independente da analise — pode correr a qualquer momento. O destino pode ser coordenadas, morada em texto, ou o centroide automatico do ultimo DBSCAN calculado.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09067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OpenRouteService API + Nominatim geocoding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3392424"/>
            <a:ext cx="5303520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566928" y="34564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Suportamos tres modos de transporte: carro, a pe e bicicleta. Para cada um podemos escolher a rota mais curta ou mais rapida.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3849624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3 perfis ORS: driving-car, foot-walking, cycling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4151376"/>
            <a:ext cx="5303520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566928" y="421538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 aparece no mapa como uma linha com o nome a indicar a distancia e o tempo estimado.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4608576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GeoJSON com distancia (m) e duracao (seg)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06440" y="914400"/>
            <a:ext cx="2971800" cy="1920240"/>
          </a:xfrm>
          <a:prstGeom prst="roundRect">
            <a:avLst>
              <a:gd name="adj" fmla="val 3333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5989320" y="1078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 automatico vs manual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141732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nao definires destino: o plugin usa automaticamente o centro do cluster mais denso.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Podes tambem escrever uma morada em texto — o plugin converte para coordenadas.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introduzir as coordenadas diretamente.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06440" y="2971800"/>
            <a:ext cx="2971800" cy="1691640"/>
          </a:xfrm>
          <a:prstGeom prst="roundRect">
            <a:avLst>
              <a:gd name="adj" fmla="val 3784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5989320" y="31363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curta vs mais rapida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347472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curta: menos km totais — pode passar por ruas estreitas.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rapida: prefere estradas maiores mesmo que o caminho seja ligeiramente maior.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em Coimbra: diferenca de apenas 46m entre as duas.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Fonseca · José Moura  |  ISEC – Ambient Intelligence 2025/2026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Isocronas das Paragens de Autocarro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sao as isocronas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530352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Desenhámos circulos a volta de cada paragem de autocarro de Coimbra e fundimos tudo num unico poligono — mostra qual a zona da cidade que esta a menos de X minutos a pe de uma paragem.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4708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Buffer geometrico + unary_union → GeoJSON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176272"/>
            <a:ext cx="530352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566928" y="2249424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raios configurados no plugin: 200m (cerca de 2-3 minutos a pe) e 400m (cerca de 5 minutos a pe). Aparecem no mapa em tons de azul sobrepostos.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72491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Dois raios configurados no HUD do plugin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3054096"/>
            <a:ext cx="530352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566928" y="3127248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calculos sao feitos em metros reais — se fizessemos em graus, a mesma distancia seria diferente em Coimbra e em Lisboa.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602736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Projecao EPSG:3763 (metros) → converte para WGS84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0233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que as isocronas respondem: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315968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zonas de Coimbra estao a menos de 5 min a pe de uma paragem?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hospitais ou farmacias fora da zona de cobertura pedonal?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06440" y="914400"/>
            <a:ext cx="2971800" cy="2011680"/>
          </a:xfrm>
          <a:prstGeom prst="roundRect">
            <a:avLst>
              <a:gd name="adj" fmla="val 3182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5989320" y="1078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fundimos tudo num poligono?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14173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paragem tem o seu proprio circulo — mas o que interessa e ver a cobertura total da rede.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Fundimos todos os circulos num unico poligono para ver de uma vez so qual a area de Coimbra que esta coberta.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06440" y="3063240"/>
            <a:ext cx="2971800" cy="1600200"/>
          </a:xfrm>
          <a:prstGeom prst="roundRect">
            <a:avLst>
              <a:gd name="adj" fmla="val 4000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5989320" y="32278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academica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89320" y="356616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(2021) usaram isocronas para identificar zonas com falta de acesso a equipamentos publicos.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Aplicamos a mesma abordagem as paragens SMTUC de Coimbra.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Fonseca · José Moura  |  ISEC – Ambient Intelligence 2025/2026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GeoSensing &amp; MerginMaps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funcionam as camadas GeoSensing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530352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Criamos tres camadas vazias prontas a receber dados no terreno: Reporting (problemas), Events (eventos) e POIs (pontos de interesse). Cada ponto tem titulo, descricao, data e autor.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4708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GeoPackage (.gpkg) com 4 campos editaveis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176272"/>
            <a:ext cx="530352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566928" y="2249424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Subimos o projeto e as camadas para um servidor na cloud. Qualquer colaborador pode abrir o projeto no telemovel e adicionar pontos no terreno — mesmo sem internet.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72491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Push via plugin MerginMaps → servidor cloud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3054096"/>
            <a:ext cx="530352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566928" y="3127248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voltamos ao computador, fazemos Pull — o QGIS descarrega automaticamente todos os pontos novos e atualiza as camadas.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602736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Usado: Pull → current_project_sync() → camadas recarregadas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06440" y="914400"/>
            <a:ext cx="2971800" cy="3931920"/>
          </a:xfrm>
          <a:prstGeom prst="roundRect">
            <a:avLst>
              <a:gd name="adj" fmla="val 2154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5989320" y="1078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colaborativo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9320" y="1417320"/>
            <a:ext cx="2606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Importacao cria as camadas vazias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Guardar projeto (botao no plugin)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Push — sobe tudo para o servidor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Colaboradores abrem na app Input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Adicionam pontos no terreno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Sync na app — sobe para o servidor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Pull no QGIS — recebe os dados novos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Fonseca · José Moura  |  ISEC – Ambient Intelligence 2025/2026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PyQt — Interface Grafica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Interface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261872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QDialog nativo Qt6 via qgis.PyQt.QtWidgets — integrado no QGIS Desktop sem instalacao em pastas de sistema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secoes: Dados, Origem, Destino, Rota, DBSCAN, Parametros, GeoSensing — cada parametro exposto no HUD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QTextEdit read-only como painel de log com processEvents() para atualizacao em tempo real </a:t>
            </a:r>
            <a:r>
              <a:rPr lang="en-US" sz="1050" dirty="0" err="1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</a:t>
            </a: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272491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Botoes e Funcionalidades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3108960"/>
            <a:ext cx="52120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48640" y="31638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Importar Dados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316382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completo — DGT, OSMnx, Google Satellite, camadas GeoSensing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3483864"/>
            <a:ext cx="52120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548640" y="35387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Executar Analise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353872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 + Heatmap + DBSCAN + Isocronas — todos os parametros do HUD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858768"/>
            <a:ext cx="52120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548640" y="39136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Calcular Rota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77440" y="391363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 API — independente da analise, usa destino manual ou centroide DBSCAN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4233672"/>
            <a:ext cx="52120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548640" y="42885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Guardar Projeto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428853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QgsProject.write() — dialogo para escolher pasta, guarda .qgz com todas as camadas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608576"/>
            <a:ext cx="52120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/ Push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466344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MerginMaps sync — create_new_project() para upload inicial, current_project_sync() para sync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06440" y="914400"/>
            <a:ext cx="2971800" cy="2194560"/>
          </a:xfrm>
          <a:prstGeom prst="roundRect">
            <a:avLst>
              <a:gd name="adj" fmla="val 2917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5989320" y="1078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Parametros configurados no HUD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89320" y="141732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Cidade: Coimbra / Porto / Lisboa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Categoria POI: hospital / school / pharmacy / parking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Transporte: Carro / A Pe / Bicicleta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Preferencia rota: Mais curta / Mais rapida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Buffer origem (m)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DBSCAN: eps, min pts, top 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Heatmap raio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Isocronas: 2 distancias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06440" y="3246120"/>
            <a:ext cx="2971800" cy="1417320"/>
          </a:xfrm>
          <a:prstGeom prst="roundRect">
            <a:avLst>
              <a:gd name="adj" fmla="val 4516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5989320" y="34107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Distribuicao do plugin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89320" y="3749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Python na consola do QGIS — sem instalacao em pastas de sistema.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utilizador abre o ficheiro no editor Python do QGIS e executa — funciona em qualquer instalacao QGIS 4.x.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Fonseca · José Moura  |  ISEC – Ambient Intelligence 2025/2026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Visualizacao dos Dados no QGIS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690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Heatmap KDE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 YlOrRd — amarelo = baixa densidade, vermelho escuro = alta concentracao de POIs. Simbologia aplicada programaticamente com QgsColorRampShader.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40690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Clusters DBSCAN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0" y="1325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coloridos por cluster com campo 'cluster' — ruido (label -1) identificado separadamente. Centroides top-N como layer de pontos com rank e n_pois.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0690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Rotas ORS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LineString GeoJSON com geometria da rota. Nome da layer inclui distancia e duracao (ex: 'Rota — Carro / Mais curta (3432m, 12.5min)').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84632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Isocronas SMTUC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0" y="2651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Poligono unico por raio (unary_union de todos os buffers). 400m azul claro 30% opacidade, 200m azul escuro 40% — sobreposicao visual intuitiva.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40690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Camadas GeoSensing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3977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Events, POIs — pontos recolhidos no terreno via MerginMaps. Atualizam automaticamente apos Pull.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566160"/>
            <a:ext cx="40690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484632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 Google Satellite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3977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base XYZ carregado como QgsRasterLayer via URL template. Fornece contexto visual real para todas as camadas analiticas.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Fonseca · José Moura  |  ISEC – Ambient Intelligence 2025/2026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Disponibilizacao dos Dados &amp; Privacidade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690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Abertos (Open Data)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1316736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DGT e OSMnx sao fontes publicas. Os dados filtrados sao exportados em GeoJSON — formato aberto e interoperavel com qualquer SIG.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40690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846320" y="1005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MerginMaps — Projeto Partilhado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0" y="1316736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.qgz e publicado no servidor MerginMaps e pode ser partilhado com colaboradores para recolha adicional no terreno.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0690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GeoSensing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642616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recolhidos: titulo, descricao, data, autor. Sem dados pessoais sensiveis. O campo autor e de preenchimento voluntario.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84632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Limitacoes de Privacidade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0" y="2642616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localizacao podem identificar padroes de mobilidade. Recomenda-se anonimizacao do campo autor em deployments publicos.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4069080" cy="1170432"/>
          </a:xfrm>
          <a:prstGeom prst="roundRect">
            <a:avLst>
              <a:gd name="adj" fmla="val 4688"/>
            </a:avLst>
          </a:prstGeom>
          <a:solidFill>
            <a:srgbClr val="FFF8F0"/>
          </a:solidFill>
          <a:ln w="12700">
            <a:solidFill>
              <a:srgbClr val="FFD0A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Identificabilidade do utilizador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3968496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combinacao data + localizacao pode identificar um colaborador. Mitigacao: usar pseudonimos; nao publicar GPKGs raw.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566160"/>
            <a:ext cx="4069080" cy="1170432"/>
          </a:xfrm>
          <a:prstGeom prst="roundRect">
            <a:avLst>
              <a:gd name="adj" fmla="val 4688"/>
            </a:avLst>
          </a:prstGeom>
          <a:solidFill>
            <a:srgbClr val="FFF8F0"/>
          </a:solidFill>
          <a:ln w="12700">
            <a:solidFill>
              <a:srgbClr val="FFD0A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4846320" y="3657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3968496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processamento automatizado de dados pessoais. Dados fornecidos voluntariamente. Eliminacao possivel pelo administrador do projeto.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Fonseca · José Moura  |  ISEC – Ambient Intelligence 2025/2026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Testes, Limitacoes e Erros Resolvidos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1828800"/>
          </a:xfrm>
          <a:prstGeom prst="roundRect">
            <a:avLst>
              <a:gd name="adj" fmla="val 3500"/>
            </a:avLst>
          </a:prstGeom>
          <a:solidFill>
            <a:srgbClr val="EBF4F4"/>
          </a:solidFill>
          <a:ln w="12700">
            <a:solidFill>
              <a:srgbClr val="C5DFE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dos Testes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389 POIs em Coimbra — 7 hospitais, 12 escolas, 20 farmacias, 56 parkings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Multiplos clusters DBSCAN identificados — maior concentracao na Baixa de Coimbra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Rota mais curta ~3432m / mais rapida ~3478m (delta 46m)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Isocronas 200m/400m geradas e reprojetadas corretamente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GeoSensing: 30 pontos recolhidos no terreno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3931920" cy="1874520"/>
          </a:xfrm>
          <a:prstGeom prst="roundRect">
            <a:avLst>
              <a:gd name="adj" fmla="val 3415"/>
            </a:avLst>
          </a:prstGeom>
          <a:solidFill>
            <a:srgbClr val="EBF4F4"/>
          </a:solidFill>
          <a:ln w="12700">
            <a:solidFill>
              <a:srgbClr val="C5DFE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Resolvidos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WinError 32 (ficheiro bloqueado): remover layer do QGIS antes de apagar ficheiro + time.sleep(0.3)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ArrowStringArray: gdf['fclass'].astype(str) antes de qualquer filtragem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geometry.intersects() vs cx[]: substituido para filtro explicito e fiavel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QLineEdit.Password → QLineEdit.EchoMode.Password (Qt6)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914400"/>
            <a:ext cx="4343400" cy="1828800"/>
          </a:xfrm>
          <a:prstGeom prst="roundRect">
            <a:avLst>
              <a:gd name="adj" fmla="val 3500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4617720" y="107899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Limitacoes Conhecidas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141732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Dependencia de servidores externos (ORS API, Nominatim) — sem fallback offline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Qualidade variavel dos dados OSM — paragens SMTUC podem estar incompletas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Heatmap QGIS Processing requer GUI — nao executa em modo headless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categorias POI confiaveis — outras categorias (cafe, museum) tem falsos positivos confirmados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34840" y="2834640"/>
            <a:ext cx="4343400" cy="1874520"/>
          </a:xfrm>
          <a:prstGeom prst="roundRect">
            <a:avLst>
              <a:gd name="adj" fmla="val 3415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617720" y="29992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Decisoes de Engenharia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333756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guardar_geojson() remove automaticamente o layer do QGIS antes de apagar o ficheiro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adicionar_layer() remove layer com o mesmo nome antes de adicionar novo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Geocodificacao: tenta cidade primeiro, fallback para Portugal inteiro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Import separado da Analise — ETL uma vez, analise multiplas vezes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Fonseca · José Moura  |  ISEC – Ambient Intelligence 2025/2026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Conclusoes &amp; Trabalho Futuro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274320" cy="274320"/>
          </a:xfrm>
          <a:prstGeom prst="ellipse">
            <a:avLst/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868680" y="105156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GIS colaborativo end-to-end funcional — Import, Analise, Routing, GeoSensing integrados num plugin PyQt unico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74320" cy="274320"/>
          </a:xfrm>
          <a:prstGeom prst="ellipse">
            <a:avLst/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868680" y="1801368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com haversine provou-se eficaz para identificar concentracoes geograficas de POIs sem definir o numero de clusters a priori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274320" cy="274320"/>
          </a:xfrm>
          <a:prstGeom prst="ellipse">
            <a:avLst/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868680" y="2551176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MerginMaps fecha o ciclo colaborativo — dados recolhidos no terreno chegam ao QGIS Desktop com um Pull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28416"/>
            <a:ext cx="274320" cy="274320"/>
          </a:xfrm>
          <a:prstGeom prst="ellipse">
            <a:avLst/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868680" y="3300984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parametrica permite adaptar o sistema a qualquer cidade portuguesa sem alterar codigo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4664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Futuro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498848"/>
            <a:ext cx="82296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GTFS real da SMTUC para isocronas por tempo de viagem real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com visualizacao em tempo real dos dados GeoSensing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Gamificacao da recolha colaborativa para aumentar participacao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para classificacao automatica de reports de infraestrutura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1645920"/>
          </a:xfrm>
          <a:prstGeom prst="rect">
            <a:avLst/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 Aplicacao / Etapas do Estudo Desenvolvido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542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Demonstracao ao vivo do plugin GeoSensing &amp; Community Hub no QGIS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379476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11480" y="3858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Importar Dados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84832" y="379476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1522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2130552" y="3858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Executar Analise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03904" y="379476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1522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3849624" y="3858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Calcular Rota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22976" y="379476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1522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5568696" y="3858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Guardar Projeto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42048" y="379476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1522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7287768" y="3858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Sync GeoSensing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pela atencao  ·  Joao Fonseca &amp; Jose Moura  ·  ISEC 2025/2026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3245</Words>
  <Application>Microsoft Office PowerPoint</Application>
  <PresentationFormat>Apresentação no Ecrã (16:9)</PresentationFormat>
  <Paragraphs>358</Paragraphs>
  <Slides>18</Slides>
  <Notes>18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José Moura</cp:lastModifiedBy>
  <cp:revision>2</cp:revision>
  <dcterms:created xsi:type="dcterms:W3CDTF">2026-06-12T11:08:56Z</dcterms:created>
  <dcterms:modified xsi:type="dcterms:W3CDTF">2026-06-12T11:21:57Z</dcterms:modified>
</cp:coreProperties>
</file>